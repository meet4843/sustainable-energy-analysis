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EE0BD-0280-4850-9201-C5490DB0E478}" v="4" dt="2026-03-23T05:14:44.2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t Patel" userId="d9c41ba6fcf02504" providerId="LiveId" clId="{D87117E8-004B-455D-A9D1-E30516F91726}"/>
    <pc:docChg chg="undo custSel modSld">
      <pc:chgData name="Meet Patel" userId="d9c41ba6fcf02504" providerId="LiveId" clId="{D87117E8-004B-455D-A9D1-E30516F91726}" dt="2026-03-23T05:14:44.258" v="525"/>
      <pc:docMkLst>
        <pc:docMk/>
      </pc:docMkLst>
      <pc:sldChg chg="addSp delSp modSp mod">
        <pc:chgData name="Meet Patel" userId="d9c41ba6fcf02504" providerId="LiveId" clId="{D87117E8-004B-455D-A9D1-E30516F91726}" dt="2026-03-23T05:08:37.057" v="390" actId="478"/>
        <pc:sldMkLst>
          <pc:docMk/>
          <pc:sldMk cId="0" sldId="256"/>
        </pc:sldMkLst>
        <pc:spChg chg="mod">
          <ac:chgData name="Meet Patel" userId="d9c41ba6fcf02504" providerId="LiveId" clId="{D87117E8-004B-455D-A9D1-E30516F91726}" dt="2026-03-20T05:17:49.070" v="52" actId="1076"/>
          <ac:spMkLst>
            <pc:docMk/>
            <pc:sldMk cId="0" sldId="256"/>
            <ac:spMk id="3" creationId="{00000000-0000-0000-0000-000000000000}"/>
          </ac:spMkLst>
        </pc:spChg>
        <pc:spChg chg="mod">
          <ac:chgData name="Meet Patel" userId="d9c41ba6fcf02504" providerId="LiveId" clId="{D87117E8-004B-455D-A9D1-E30516F91726}" dt="2026-03-20T05:17:10.010" v="47" actId="1076"/>
          <ac:spMkLst>
            <pc:docMk/>
            <pc:sldMk cId="0" sldId="256"/>
            <ac:spMk id="10" creationId="{00000000-0000-0000-0000-000000000000}"/>
          </ac:spMkLst>
        </pc:spChg>
        <pc:spChg chg="mod">
          <ac:chgData name="Meet Patel" userId="d9c41ba6fcf02504" providerId="LiveId" clId="{D87117E8-004B-455D-A9D1-E30516F91726}" dt="2026-03-20T05:18:11.791" v="93" actId="20577"/>
          <ac:spMkLst>
            <pc:docMk/>
            <pc:sldMk cId="0" sldId="256"/>
            <ac:spMk id="11" creationId="{00000000-0000-0000-0000-000000000000}"/>
          </ac:spMkLst>
        </pc:spChg>
        <pc:spChg chg="mod">
          <ac:chgData name="Meet Patel" userId="d9c41ba6fcf02504" providerId="LiveId" clId="{D87117E8-004B-455D-A9D1-E30516F91726}" dt="2026-03-20T05:18:53.270" v="96"/>
          <ac:spMkLst>
            <pc:docMk/>
            <pc:sldMk cId="0" sldId="256"/>
            <ac:spMk id="12" creationId="{00000000-0000-0000-0000-000000000000}"/>
          </ac:spMkLst>
        </pc:spChg>
        <pc:spChg chg="mod">
          <ac:chgData name="Meet Patel" userId="d9c41ba6fcf02504" providerId="LiveId" clId="{D87117E8-004B-455D-A9D1-E30516F91726}" dt="2026-03-20T05:20:11.921" v="256" actId="20577"/>
          <ac:spMkLst>
            <pc:docMk/>
            <pc:sldMk cId="0" sldId="256"/>
            <ac:spMk id="13" creationId="{00000000-0000-0000-0000-000000000000}"/>
          </ac:spMkLst>
        </pc:spChg>
        <pc:spChg chg="mod">
          <ac:chgData name="Meet Patel" userId="d9c41ba6fcf02504" providerId="LiveId" clId="{D87117E8-004B-455D-A9D1-E30516F91726}" dt="2026-03-20T05:20:43.245" v="312" actId="20577"/>
          <ac:spMkLst>
            <pc:docMk/>
            <pc:sldMk cId="0" sldId="256"/>
            <ac:spMk id="14" creationId="{00000000-0000-0000-0000-000000000000}"/>
          </ac:spMkLst>
        </pc:spChg>
        <pc:spChg chg="mod">
          <ac:chgData name="Meet Patel" userId="d9c41ba6fcf02504" providerId="LiveId" clId="{D87117E8-004B-455D-A9D1-E30516F91726}" dt="2026-03-20T05:21:01.952" v="341" actId="20577"/>
          <ac:spMkLst>
            <pc:docMk/>
            <pc:sldMk cId="0" sldId="256"/>
            <ac:spMk id="15" creationId="{00000000-0000-0000-0000-000000000000}"/>
          </ac:spMkLst>
        </pc:spChg>
        <pc:spChg chg="del">
          <ac:chgData name="Meet Patel" userId="d9c41ba6fcf02504" providerId="LiveId" clId="{D87117E8-004B-455D-A9D1-E30516F91726}" dt="2026-03-23T05:07:43.589" v="374" actId="478"/>
          <ac:spMkLst>
            <pc:docMk/>
            <pc:sldMk cId="0" sldId="256"/>
            <ac:spMk id="16" creationId="{00000000-0000-0000-0000-000000000000}"/>
          </ac:spMkLst>
        </pc:spChg>
        <pc:spChg chg="del">
          <ac:chgData name="Meet Patel" userId="d9c41ba6fcf02504" providerId="LiveId" clId="{D87117E8-004B-455D-A9D1-E30516F91726}" dt="2026-03-23T05:07:44.728" v="375" actId="478"/>
          <ac:spMkLst>
            <pc:docMk/>
            <pc:sldMk cId="0" sldId="256"/>
            <ac:spMk id="17" creationId="{00000000-0000-0000-0000-000000000000}"/>
          </ac:spMkLst>
        </pc:spChg>
        <pc:spChg chg="del mod">
          <ac:chgData name="Meet Patel" userId="d9c41ba6fcf02504" providerId="LiveId" clId="{D87117E8-004B-455D-A9D1-E30516F91726}" dt="2026-03-23T05:08:37.057" v="390" actId="478"/>
          <ac:spMkLst>
            <pc:docMk/>
            <pc:sldMk cId="0" sldId="256"/>
            <ac:spMk id="18" creationId="{00000000-0000-0000-0000-000000000000}"/>
          </ac:spMkLst>
        </pc:spChg>
        <pc:picChg chg="add mod">
          <ac:chgData name="Meet Patel" userId="d9c41ba6fcf02504" providerId="LiveId" clId="{D87117E8-004B-455D-A9D1-E30516F91726}" dt="2026-03-23T05:08:33.804" v="389" actId="14100"/>
          <ac:picMkLst>
            <pc:docMk/>
            <pc:sldMk cId="0" sldId="256"/>
            <ac:picMk id="20" creationId="{39F8029F-9138-B27C-40FD-2FC0EB2EC4C8}"/>
          </ac:picMkLst>
        </pc:picChg>
      </pc:sldChg>
      <pc:sldChg chg="modSp mod">
        <pc:chgData name="Meet Patel" userId="d9c41ba6fcf02504" providerId="LiveId" clId="{D87117E8-004B-455D-A9D1-E30516F91726}" dt="2026-03-20T05:21:46.108" v="355" actId="20577"/>
        <pc:sldMkLst>
          <pc:docMk/>
          <pc:sldMk cId="0" sldId="257"/>
        </pc:sldMkLst>
        <pc:spChg chg="mod">
          <ac:chgData name="Meet Patel" userId="d9c41ba6fcf02504" providerId="LiveId" clId="{D87117E8-004B-455D-A9D1-E30516F91726}" dt="2026-03-20T05:21:46.108" v="355" actId="20577"/>
          <ac:spMkLst>
            <pc:docMk/>
            <pc:sldMk cId="0" sldId="257"/>
            <ac:spMk id="10" creationId="{00000000-0000-0000-0000-000000000000}"/>
          </ac:spMkLst>
        </pc:spChg>
      </pc:sldChg>
      <pc:sldChg chg="modSp mod">
        <pc:chgData name="Meet Patel" userId="d9c41ba6fcf02504" providerId="LiveId" clId="{D87117E8-004B-455D-A9D1-E30516F91726}" dt="2026-03-20T05:25:56.100" v="368" actId="207"/>
        <pc:sldMkLst>
          <pc:docMk/>
          <pc:sldMk cId="0" sldId="258"/>
        </pc:sldMkLst>
        <pc:spChg chg="mod">
          <ac:chgData name="Meet Patel" userId="d9c41ba6fcf02504" providerId="LiveId" clId="{D87117E8-004B-455D-A9D1-E30516F91726}" dt="2026-03-20T05:25:56.100" v="368" actId="207"/>
          <ac:spMkLst>
            <pc:docMk/>
            <pc:sldMk cId="0" sldId="258"/>
            <ac:spMk id="10" creationId="{00000000-0000-0000-0000-000000000000}"/>
          </ac:spMkLst>
        </pc:spChg>
      </pc:sldChg>
      <pc:sldChg chg="modSp mod">
        <pc:chgData name="Meet Patel" userId="d9c41ba6fcf02504" providerId="LiveId" clId="{D87117E8-004B-455D-A9D1-E30516F91726}" dt="2026-03-20T05:22:52.116" v="361" actId="20577"/>
        <pc:sldMkLst>
          <pc:docMk/>
          <pc:sldMk cId="0" sldId="259"/>
        </pc:sldMkLst>
        <pc:spChg chg="mod">
          <ac:chgData name="Meet Patel" userId="d9c41ba6fcf02504" providerId="LiveId" clId="{D87117E8-004B-455D-A9D1-E30516F91726}" dt="2026-03-20T05:22:24.778" v="357" actId="20577"/>
          <ac:spMkLst>
            <pc:docMk/>
            <pc:sldMk cId="0" sldId="259"/>
            <ac:spMk id="9" creationId="{00000000-0000-0000-0000-000000000000}"/>
          </ac:spMkLst>
        </pc:spChg>
        <pc:spChg chg="mod">
          <ac:chgData name="Meet Patel" userId="d9c41ba6fcf02504" providerId="LiveId" clId="{D87117E8-004B-455D-A9D1-E30516F91726}" dt="2026-03-20T05:22:52.116" v="361" actId="20577"/>
          <ac:spMkLst>
            <pc:docMk/>
            <pc:sldMk cId="0" sldId="259"/>
            <ac:spMk id="10" creationId="{00000000-0000-0000-0000-000000000000}"/>
          </ac:spMkLst>
        </pc:spChg>
      </pc:sldChg>
      <pc:sldChg chg="modSp mod">
        <pc:chgData name="Meet Patel" userId="d9c41ba6fcf02504" providerId="LiveId" clId="{D87117E8-004B-455D-A9D1-E30516F91726}" dt="2026-03-20T05:26:45.389" v="372" actId="255"/>
        <pc:sldMkLst>
          <pc:docMk/>
          <pc:sldMk cId="0" sldId="261"/>
        </pc:sldMkLst>
        <pc:spChg chg="mod">
          <ac:chgData name="Meet Patel" userId="d9c41ba6fcf02504" providerId="LiveId" clId="{D87117E8-004B-455D-A9D1-E30516F91726}" dt="2026-03-20T05:26:45.389" v="372" actId="255"/>
          <ac:spMkLst>
            <pc:docMk/>
            <pc:sldMk cId="0" sldId="261"/>
            <ac:spMk id="10" creationId="{00000000-0000-0000-0000-000000000000}"/>
          </ac:spMkLst>
        </pc:spChg>
      </pc:sldChg>
      <pc:sldChg chg="modSp mod">
        <pc:chgData name="Meet Patel" userId="d9c41ba6fcf02504" providerId="LiveId" clId="{D87117E8-004B-455D-A9D1-E30516F91726}" dt="2026-03-20T05:27:57.573" v="373" actId="207"/>
        <pc:sldMkLst>
          <pc:docMk/>
          <pc:sldMk cId="0" sldId="263"/>
        </pc:sldMkLst>
        <pc:spChg chg="mod">
          <ac:chgData name="Meet Patel" userId="d9c41ba6fcf02504" providerId="LiveId" clId="{D87117E8-004B-455D-A9D1-E30516F91726}" dt="2026-03-20T05:27:57.573" v="373" actId="207"/>
          <ac:spMkLst>
            <pc:docMk/>
            <pc:sldMk cId="0" sldId="263"/>
            <ac:spMk id="10" creationId="{00000000-0000-0000-0000-000000000000}"/>
          </ac:spMkLst>
        </pc:spChg>
      </pc:sldChg>
      <pc:sldChg chg="modSp mod">
        <pc:chgData name="Meet Patel" userId="d9c41ba6fcf02504" providerId="LiveId" clId="{D87117E8-004B-455D-A9D1-E30516F91726}" dt="2026-03-23T05:14:44.258" v="525"/>
        <pc:sldMkLst>
          <pc:docMk/>
          <pc:sldMk cId="0" sldId="265"/>
        </pc:sldMkLst>
        <pc:spChg chg="mod">
          <ac:chgData name="Meet Patel" userId="d9c41ba6fcf02504" providerId="LiveId" clId="{D87117E8-004B-455D-A9D1-E30516F91726}" dt="2026-03-23T05:14:44.258" v="525"/>
          <ac:spMkLst>
            <pc:docMk/>
            <pc:sldMk cId="0" sldId="265"/>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857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C2951"/>
          </a:solidFill>
          <a:ln w="12700">
            <a:solidFill>
              <a:srgbClr val="1C2951"/>
            </a:solidFill>
            <a:prstDash val="solid"/>
          </a:ln>
        </p:spPr>
      </p:sp>
      <p:sp>
        <p:nvSpPr>
          <p:cNvPr id="3" name="Shape 1"/>
          <p:cNvSpPr/>
          <p:nvPr/>
        </p:nvSpPr>
        <p:spPr>
          <a:xfrm>
            <a:off x="0" y="4876038"/>
            <a:ext cx="9144000" cy="315468"/>
          </a:xfrm>
          <a:prstGeom prst="rect">
            <a:avLst/>
          </a:prstGeom>
          <a:solidFill>
            <a:srgbClr val="00A651"/>
          </a:solidFill>
          <a:ln w="12700">
            <a:solidFill>
              <a:srgbClr val="00A651"/>
            </a:solidFill>
            <a:prstDash val="solid"/>
          </a:ln>
        </p:spPr>
      </p:sp>
      <p:sp>
        <p:nvSpPr>
          <p:cNvPr id="4" name="Shape 2"/>
          <p:cNvSpPr/>
          <p:nvPr/>
        </p:nvSpPr>
        <p:spPr>
          <a:xfrm>
            <a:off x="365760" y="109728"/>
            <a:ext cx="201168" cy="201168"/>
          </a:xfrm>
          <a:prstGeom prst="rect">
            <a:avLst/>
          </a:prstGeom>
          <a:solidFill>
            <a:srgbClr val="F25022"/>
          </a:solidFill>
          <a:ln w="12700">
            <a:solidFill>
              <a:srgbClr val="F25022"/>
            </a:solidFill>
            <a:prstDash val="solid"/>
          </a:ln>
        </p:spPr>
      </p:sp>
      <p:sp>
        <p:nvSpPr>
          <p:cNvPr id="5" name="Shape 3"/>
          <p:cNvSpPr/>
          <p:nvPr/>
        </p:nvSpPr>
        <p:spPr>
          <a:xfrm>
            <a:off x="585216" y="109728"/>
            <a:ext cx="201168" cy="201168"/>
          </a:xfrm>
          <a:prstGeom prst="rect">
            <a:avLst/>
          </a:prstGeom>
          <a:solidFill>
            <a:srgbClr val="7FBA00"/>
          </a:solidFill>
          <a:ln w="12700">
            <a:solidFill>
              <a:srgbClr val="7FBA00"/>
            </a:solidFill>
            <a:prstDash val="solid"/>
          </a:ln>
        </p:spPr>
      </p:sp>
      <p:sp>
        <p:nvSpPr>
          <p:cNvPr id="6" name="Shape 4"/>
          <p:cNvSpPr/>
          <p:nvPr/>
        </p:nvSpPr>
        <p:spPr>
          <a:xfrm>
            <a:off x="365760" y="329184"/>
            <a:ext cx="201168" cy="201168"/>
          </a:xfrm>
          <a:prstGeom prst="rect">
            <a:avLst/>
          </a:prstGeom>
          <a:solidFill>
            <a:srgbClr val="00A4EF"/>
          </a:solidFill>
          <a:ln w="12700">
            <a:solidFill>
              <a:srgbClr val="00A4EF"/>
            </a:solidFill>
            <a:prstDash val="solid"/>
          </a:ln>
        </p:spPr>
      </p:sp>
      <p:sp>
        <p:nvSpPr>
          <p:cNvPr id="7" name="Shape 5"/>
          <p:cNvSpPr/>
          <p:nvPr/>
        </p:nvSpPr>
        <p:spPr>
          <a:xfrm>
            <a:off x="585216" y="329184"/>
            <a:ext cx="201168" cy="201168"/>
          </a:xfrm>
          <a:prstGeom prst="rect">
            <a:avLst/>
          </a:prstGeom>
          <a:solidFill>
            <a:srgbClr val="FFB900"/>
          </a:solidFill>
          <a:ln w="12700">
            <a:solidFill>
              <a:srgbClr val="FFB900"/>
            </a:solidFill>
            <a:prstDash val="solid"/>
          </a:ln>
        </p:spPr>
      </p:sp>
      <p:sp>
        <p:nvSpPr>
          <p:cNvPr id="8" name="Text 6"/>
          <p:cNvSpPr/>
          <p:nvPr/>
        </p:nvSpPr>
        <p:spPr>
          <a:xfrm>
            <a:off x="822960" y="91440"/>
            <a:ext cx="1280160" cy="457200"/>
          </a:xfrm>
          <a:prstGeom prst="rect">
            <a:avLst/>
          </a:prstGeom>
          <a:noFill/>
          <a:ln/>
        </p:spPr>
        <p:txBody>
          <a:bodyPr wrap="square" rtlCol="0" anchor="ctr"/>
          <a:lstStyle/>
          <a:p>
            <a:pPr marL="0" indent="0">
              <a:buNone/>
            </a:pPr>
            <a:r>
              <a:rPr lang="en-US" sz="1100" dirty="0">
                <a:solidFill>
                  <a:srgbClr val="000000"/>
                </a:solidFill>
                <a:latin typeface="Calibri" pitchFamily="34" charset="0"/>
                <a:ea typeface="Calibri" pitchFamily="34" charset="-122"/>
                <a:cs typeface="Calibri" pitchFamily="34" charset="-120"/>
              </a:rPr>
              <a:t>Microsoft</a:t>
            </a:r>
            <a:endParaRPr lang="en-US" sz="1100" dirty="0"/>
          </a:p>
          <a:p>
            <a:pPr marL="0" indent="0">
              <a:buNone/>
            </a:pPr>
            <a:r>
              <a:rPr lang="en-US" sz="1100" dirty="0">
                <a:solidFill>
                  <a:srgbClr val="000000"/>
                </a:solidFill>
                <a:latin typeface="Calibri" pitchFamily="34" charset="0"/>
                <a:ea typeface="Calibri" pitchFamily="34" charset="-122"/>
                <a:cs typeface="Calibri" pitchFamily="34" charset="-120"/>
              </a:rPr>
              <a:t>Elevate</a:t>
            </a:r>
            <a:endParaRPr lang="en-US" sz="1100" dirty="0"/>
          </a:p>
        </p:txBody>
      </p:sp>
      <p:sp>
        <p:nvSpPr>
          <p:cNvPr id="9" name="Text 7"/>
          <p:cNvSpPr/>
          <p:nvPr/>
        </p:nvSpPr>
        <p:spPr>
          <a:xfrm>
            <a:off x="365760" y="822960"/>
            <a:ext cx="5029200" cy="457200"/>
          </a:xfrm>
          <a:prstGeom prst="rect">
            <a:avLst/>
          </a:prstGeom>
          <a:noFill/>
          <a:ln/>
        </p:spPr>
        <p:txBody>
          <a:bodyPr wrap="square"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CAPSTONE PROJECT</a:t>
            </a:r>
            <a:endParaRPr lang="en-US" sz="1600" dirty="0"/>
          </a:p>
        </p:txBody>
      </p:sp>
      <p:sp>
        <p:nvSpPr>
          <p:cNvPr id="10" name="Text 8"/>
          <p:cNvSpPr/>
          <p:nvPr/>
        </p:nvSpPr>
        <p:spPr>
          <a:xfrm>
            <a:off x="365760" y="1079972"/>
            <a:ext cx="5303520" cy="2011680"/>
          </a:xfrm>
          <a:prstGeom prst="rect">
            <a:avLst/>
          </a:prstGeom>
          <a:noFill/>
          <a:ln/>
        </p:spPr>
        <p:txBody>
          <a:bodyPr wrap="square"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Sustainable Energy Consumption and Carbon Emission Analysis using Power BI and Machine Learning (Linear Regression)</a:t>
            </a:r>
            <a:endParaRPr lang="en-US" sz="2400" dirty="0"/>
          </a:p>
        </p:txBody>
      </p:sp>
      <p:sp>
        <p:nvSpPr>
          <p:cNvPr id="11" name="Text 9"/>
          <p:cNvSpPr/>
          <p:nvPr/>
        </p:nvSpPr>
        <p:spPr>
          <a:xfrm>
            <a:off x="365760" y="3311108"/>
            <a:ext cx="5029200" cy="3200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PRESENTED BY : Meet </a:t>
            </a:r>
            <a:r>
              <a:rPr lang="en-US" sz="1300" b="1" dirty="0" err="1">
                <a:solidFill>
                  <a:srgbClr val="000000"/>
                </a:solidFill>
                <a:latin typeface="Calibri" pitchFamily="34" charset="0"/>
                <a:ea typeface="Calibri" pitchFamily="34" charset="-122"/>
                <a:cs typeface="Calibri" pitchFamily="34" charset="-120"/>
              </a:rPr>
              <a:t>Bharatbhai</a:t>
            </a:r>
            <a:r>
              <a:rPr lang="en-US" sz="1300" b="1" dirty="0">
                <a:solidFill>
                  <a:srgbClr val="000000"/>
                </a:solidFill>
                <a:latin typeface="Calibri" pitchFamily="34" charset="0"/>
                <a:ea typeface="Calibri" pitchFamily="34" charset="-122"/>
                <a:cs typeface="Calibri" pitchFamily="34" charset="-120"/>
              </a:rPr>
              <a:t> Patel</a:t>
            </a:r>
            <a:endParaRPr lang="en-US" sz="1300" dirty="0"/>
          </a:p>
        </p:txBody>
      </p:sp>
      <p:sp>
        <p:nvSpPr>
          <p:cNvPr id="12" name="Text 10"/>
          <p:cNvSpPr/>
          <p:nvPr/>
        </p:nvSpPr>
        <p:spPr>
          <a:xfrm>
            <a:off x="365760" y="3658090"/>
            <a:ext cx="5029200" cy="274320"/>
          </a:xfrm>
          <a:prstGeom prst="rect">
            <a:avLst/>
          </a:prstGeom>
          <a:noFill/>
          <a:ln/>
        </p:spPr>
        <p:txBody>
          <a:bodyPr wrap="square" rtlCol="0" anchor="ctr"/>
          <a:lstStyle/>
          <a:p>
            <a:r>
              <a:rPr lang="en-US" sz="1200" b="1" dirty="0">
                <a:solidFill>
                  <a:srgbClr val="000000"/>
                </a:solidFill>
                <a:latin typeface="Calibri" pitchFamily="34" charset="0"/>
                <a:ea typeface="Calibri" pitchFamily="34" charset="-122"/>
                <a:cs typeface="Calibri" pitchFamily="34" charset="-120"/>
              </a:rPr>
              <a:t>STUDENT NAME : : Meet </a:t>
            </a:r>
            <a:r>
              <a:rPr lang="en-US" sz="1200" b="1" dirty="0" err="1">
                <a:solidFill>
                  <a:srgbClr val="000000"/>
                </a:solidFill>
                <a:latin typeface="Calibri" pitchFamily="34" charset="0"/>
                <a:ea typeface="Calibri" pitchFamily="34" charset="-122"/>
                <a:cs typeface="Calibri" pitchFamily="34" charset="-120"/>
              </a:rPr>
              <a:t>Bharatbhai</a:t>
            </a:r>
            <a:r>
              <a:rPr lang="en-US" sz="1200" b="1" dirty="0">
                <a:solidFill>
                  <a:srgbClr val="000000"/>
                </a:solidFill>
                <a:latin typeface="Calibri" pitchFamily="34" charset="0"/>
                <a:ea typeface="Calibri" pitchFamily="34" charset="-122"/>
                <a:cs typeface="Calibri" pitchFamily="34" charset="-120"/>
              </a:rPr>
              <a:t> Patel</a:t>
            </a:r>
            <a:endParaRPr lang="en-US" sz="1200" dirty="0"/>
          </a:p>
        </p:txBody>
      </p:sp>
      <p:sp>
        <p:nvSpPr>
          <p:cNvPr id="13" name="Text 11"/>
          <p:cNvSpPr/>
          <p:nvPr/>
        </p:nvSpPr>
        <p:spPr>
          <a:xfrm>
            <a:off x="365760" y="3977640"/>
            <a:ext cx="502920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COLLEGE NAME : Government Engineering college Gandhinagar</a:t>
            </a:r>
            <a:endParaRPr lang="en-US" sz="1200" dirty="0"/>
          </a:p>
        </p:txBody>
      </p:sp>
      <p:sp>
        <p:nvSpPr>
          <p:cNvPr id="14" name="Text 12"/>
          <p:cNvSpPr/>
          <p:nvPr/>
        </p:nvSpPr>
        <p:spPr>
          <a:xfrm>
            <a:off x="388620" y="4242816"/>
            <a:ext cx="502920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DEPARTMENT: Electronics &amp; communication engineering</a:t>
            </a:r>
            <a:endParaRPr lang="en-US" sz="1200" dirty="0"/>
          </a:p>
        </p:txBody>
      </p:sp>
      <p:sp>
        <p:nvSpPr>
          <p:cNvPr id="15" name="Text 13"/>
          <p:cNvSpPr/>
          <p:nvPr/>
        </p:nvSpPr>
        <p:spPr>
          <a:xfrm>
            <a:off x="388620" y="4541139"/>
            <a:ext cx="5029200" cy="22860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EMAIL ID : meet02471@gmail.com</a:t>
            </a:r>
            <a:endParaRPr lang="en-US" sz="1200" dirty="0"/>
          </a:p>
        </p:txBody>
      </p:sp>
      <p:pic>
        <p:nvPicPr>
          <p:cNvPr id="20" name="Picture 19">
            <a:extLst>
              <a:ext uri="{FF2B5EF4-FFF2-40B4-BE49-F238E27FC236}">
                <a16:creationId xmlns:a16="http://schemas.microsoft.com/office/drawing/2014/main" id="{39F8029F-9138-B27C-40FD-2FC0EB2EC4C8}"/>
              </a:ext>
            </a:extLst>
          </p:cNvPr>
          <p:cNvPicPr>
            <a:picLocks noChangeAspect="1"/>
          </p:cNvPicPr>
          <p:nvPr/>
        </p:nvPicPr>
        <p:blipFill>
          <a:blip r:embed="rId3"/>
          <a:stretch>
            <a:fillRect/>
          </a:stretch>
        </p:blipFill>
        <p:spPr>
          <a:xfrm>
            <a:off x="5866326" y="1051560"/>
            <a:ext cx="2729033" cy="26611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777240"/>
          </a:xfrm>
          <a:prstGeom prst="rect">
            <a:avLst/>
          </a:prstGeom>
          <a:noFill/>
          <a:ln/>
        </p:spPr>
        <p:txBody>
          <a:bodyPr wrap="square" rtlCol="0" anchor="ctr"/>
          <a:lstStyle/>
          <a:p>
            <a:pPr marL="0" indent="0">
              <a:buNone/>
            </a:pPr>
            <a:r>
              <a:rPr lang="en-US" sz="4000" b="1" dirty="0">
                <a:solidFill>
                  <a:srgbClr val="000000"/>
                </a:solidFill>
                <a:latin typeface="Calibri" pitchFamily="34" charset="0"/>
                <a:ea typeface="Calibri" pitchFamily="34" charset="-122"/>
                <a:cs typeface="Calibri" pitchFamily="34" charset="-120"/>
              </a:rPr>
              <a:t>OUTLINE:</a:t>
            </a:r>
            <a:endParaRPr lang="en-US" sz="4000" dirty="0"/>
          </a:p>
        </p:txBody>
      </p:sp>
      <p:sp>
        <p:nvSpPr>
          <p:cNvPr id="10" name="Text 8"/>
          <p:cNvSpPr/>
          <p:nvPr/>
        </p:nvSpPr>
        <p:spPr>
          <a:xfrm>
            <a:off x="457200" y="1463040"/>
            <a:ext cx="8229600" cy="3200400"/>
          </a:xfrm>
          <a:prstGeom prst="rect">
            <a:avLst/>
          </a:prstGeom>
          <a:noFill/>
          <a:ln/>
        </p:spPr>
        <p:txBody>
          <a:bodyPr wrap="square" rtlCol="0" anchor="ctr"/>
          <a:lstStyle/>
          <a:p>
            <a:pPr marL="342900" indent="-342900">
              <a:spcAft>
                <a:spcPts val="200"/>
              </a:spcAft>
              <a:buSzPct val="100000"/>
              <a:buChar char="•"/>
            </a:pPr>
            <a:r>
              <a:rPr lang="en-US" sz="1800" b="1" dirty="0">
                <a:solidFill>
                  <a:srgbClr val="000000"/>
                </a:solidFill>
                <a:latin typeface="Calibri" pitchFamily="34" charset="0"/>
                <a:ea typeface="Calibri" pitchFamily="34" charset="-122"/>
                <a:cs typeface="Calibri" pitchFamily="34" charset="-120"/>
              </a:rPr>
              <a:t>Problem Statement</a:t>
            </a:r>
            <a:r>
              <a:rPr lang="en-US" sz="1800" dirty="0">
                <a:solidFill>
                  <a:srgbClr val="000000"/>
                </a:solidFill>
                <a:latin typeface="Calibri" pitchFamily="34" charset="0"/>
                <a:ea typeface="Calibri" pitchFamily="34" charset="-122"/>
                <a:cs typeface="Calibri" pitchFamily="34" charset="-120"/>
              </a:rPr>
              <a:t> </a:t>
            </a:r>
            <a:endParaRPr lang="en-US" sz="1800" dirty="0"/>
          </a:p>
          <a:p>
            <a:pPr marL="342900" indent="-342900">
              <a:spcAft>
                <a:spcPts val="200"/>
              </a:spcAft>
              <a:buSzPct val="100000"/>
              <a:buChar char="•"/>
            </a:pPr>
            <a:r>
              <a:rPr lang="en-US" sz="1800" b="1" dirty="0">
                <a:solidFill>
                  <a:srgbClr val="000000"/>
                </a:solidFill>
                <a:latin typeface="Calibri" pitchFamily="34" charset="0"/>
                <a:ea typeface="Calibri" pitchFamily="34" charset="-122"/>
                <a:cs typeface="Calibri" pitchFamily="34" charset="-120"/>
              </a:rPr>
              <a:t>Proposed System/Solution</a:t>
            </a:r>
            <a:endParaRPr lang="en-US" sz="1800" dirty="0"/>
          </a:p>
          <a:p>
            <a:pPr marL="285750" indent="-285750">
              <a:spcAft>
                <a:spcPts val="200"/>
              </a:spcAft>
              <a:buFont typeface="Arial" panose="020B0604020202020204" pitchFamily="34" charset="0"/>
              <a:buChar char="•"/>
            </a:pPr>
            <a:r>
              <a:rPr lang="en-US" sz="1800" b="1" dirty="0">
                <a:solidFill>
                  <a:srgbClr val="000000"/>
                </a:solidFill>
                <a:latin typeface="Calibri" pitchFamily="34" charset="0"/>
                <a:ea typeface="Calibri" pitchFamily="34" charset="-122"/>
                <a:cs typeface="Calibri" pitchFamily="34" charset="-120"/>
              </a:rPr>
              <a:t>System Development Approach</a:t>
            </a:r>
            <a:r>
              <a:rPr lang="en-US" sz="1800" dirty="0">
                <a:solidFill>
                  <a:srgbClr val="000000"/>
                </a:solidFill>
                <a:latin typeface="Calibri" pitchFamily="34" charset="0"/>
                <a:ea typeface="Calibri" pitchFamily="34" charset="-122"/>
                <a:cs typeface="Calibri" pitchFamily="34" charset="-120"/>
              </a:rPr>
              <a:t> </a:t>
            </a:r>
            <a:endParaRPr lang="en-US" sz="1800" dirty="0"/>
          </a:p>
          <a:p>
            <a:pPr marL="342900" indent="-342900">
              <a:spcAft>
                <a:spcPts val="200"/>
              </a:spcAft>
              <a:buSzPct val="100000"/>
              <a:buChar char="•"/>
            </a:pPr>
            <a:r>
              <a:rPr lang="en-US" sz="1800" b="1" dirty="0">
                <a:solidFill>
                  <a:srgbClr val="000000"/>
                </a:solidFill>
                <a:latin typeface="Calibri" pitchFamily="34" charset="0"/>
                <a:ea typeface="Calibri" pitchFamily="34" charset="-122"/>
                <a:cs typeface="Calibri" pitchFamily="34" charset="-120"/>
              </a:rPr>
              <a:t>Algorithm &amp; Deployment</a:t>
            </a:r>
            <a:endParaRPr lang="en-US" sz="1800" dirty="0"/>
          </a:p>
          <a:p>
            <a:pPr marL="342900" indent="-342900">
              <a:spcAft>
                <a:spcPts val="200"/>
              </a:spcAft>
              <a:buSzPct val="100000"/>
              <a:buChar char="•"/>
            </a:pPr>
            <a:r>
              <a:rPr lang="en-US" sz="1800" b="1" dirty="0">
                <a:solidFill>
                  <a:srgbClr val="000000"/>
                </a:solidFill>
                <a:latin typeface="Calibri" pitchFamily="34" charset="0"/>
                <a:ea typeface="Calibri" pitchFamily="34" charset="-122"/>
                <a:cs typeface="Calibri" pitchFamily="34" charset="-120"/>
              </a:rPr>
              <a:t>Result </a:t>
            </a:r>
            <a:endParaRPr lang="en-US" sz="1800" dirty="0"/>
          </a:p>
          <a:p>
            <a:pPr marL="342900" indent="-342900">
              <a:spcAft>
                <a:spcPts val="200"/>
              </a:spcAft>
              <a:buSzPct val="100000"/>
              <a:buChar char="•"/>
            </a:pPr>
            <a:r>
              <a:rPr lang="en-US" sz="1800" b="1" dirty="0">
                <a:solidFill>
                  <a:srgbClr val="000000"/>
                </a:solidFill>
                <a:latin typeface="Calibri" pitchFamily="34" charset="0"/>
                <a:ea typeface="Calibri" pitchFamily="34" charset="-122"/>
                <a:cs typeface="Calibri" pitchFamily="34" charset="-120"/>
              </a:rPr>
              <a:t>Conclusion</a:t>
            </a:r>
            <a:endParaRPr lang="en-US" sz="1800" dirty="0"/>
          </a:p>
          <a:p>
            <a:pPr marL="342900" indent="-342900">
              <a:spcAft>
                <a:spcPts val="200"/>
              </a:spcAft>
              <a:buSzPct val="100000"/>
              <a:buChar char="•"/>
            </a:pPr>
            <a:r>
              <a:rPr lang="en-US" sz="1800" b="1" dirty="0">
                <a:solidFill>
                  <a:srgbClr val="000000"/>
                </a:solidFill>
                <a:latin typeface="Calibri" pitchFamily="34" charset="0"/>
                <a:ea typeface="Calibri" pitchFamily="34" charset="-122"/>
                <a:cs typeface="Calibri" pitchFamily="34" charset="-120"/>
              </a:rPr>
              <a:t>Future Scope</a:t>
            </a:r>
            <a:endParaRPr lang="en-US" sz="1800" dirty="0"/>
          </a:p>
          <a:p>
            <a:pPr marL="342900" indent="-342900">
              <a:spcAft>
                <a:spcPts val="200"/>
              </a:spcAft>
              <a:buSzPct val="100000"/>
              <a:buChar char="•"/>
            </a:pPr>
            <a:r>
              <a:rPr lang="en-US" sz="1800" b="1" dirty="0">
                <a:solidFill>
                  <a:srgbClr val="000000"/>
                </a:solidFill>
                <a:latin typeface="Calibri" pitchFamily="34" charset="0"/>
                <a:ea typeface="Calibri" pitchFamily="34" charset="-122"/>
                <a:cs typeface="Calibri" pitchFamily="34" charset="-120"/>
              </a:rPr>
              <a:t>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3600" b="1" dirty="0">
                <a:solidFill>
                  <a:srgbClr val="000000"/>
                </a:solidFill>
                <a:latin typeface="Calibri" pitchFamily="34" charset="0"/>
                <a:ea typeface="Calibri" pitchFamily="34" charset="-122"/>
                <a:cs typeface="Calibri" pitchFamily="34" charset="-120"/>
              </a:rPr>
              <a:t>PROBLEM STATEMENT:</a:t>
            </a:r>
            <a:endParaRPr lang="en-US" sz="3600" dirty="0"/>
          </a:p>
        </p:txBody>
      </p:sp>
      <p:sp>
        <p:nvSpPr>
          <p:cNvPr id="10" name="Text 8"/>
          <p:cNvSpPr/>
          <p:nvPr/>
        </p:nvSpPr>
        <p:spPr>
          <a:xfrm>
            <a:off x="365760" y="1371600"/>
            <a:ext cx="8412480" cy="3291840"/>
          </a:xfrm>
          <a:prstGeom prst="rect">
            <a:avLst/>
          </a:prstGeom>
          <a:noFill/>
          <a:ln/>
        </p:spPr>
        <p:txBody>
          <a:bodyPr wrap="square" rtlCol="0" anchor="t"/>
          <a:lstStyle/>
          <a:p>
            <a:pPr marL="0" indent="0">
              <a:buNone/>
            </a:pPr>
            <a:r>
              <a:rPr lang="en-US" sz="1350" dirty="0">
                <a:latin typeface="Calibri" pitchFamily="34" charset="0"/>
                <a:ea typeface="Calibri" pitchFamily="34" charset="-122"/>
                <a:cs typeface="Calibri" pitchFamily="34" charset="-120"/>
              </a:rPr>
              <a:t>Global energy consumption is increasing rapidly due to industrialization and population growth. The heavy reliance on fossil fuels — coal, oil, and natural gas — has led to a significant rise in carbon dioxide (CO₂) emissions, directly contributing to climate change and global warming.</a:t>
            </a:r>
            <a:endParaRPr lang="en-US" sz="1350" dirty="0"/>
          </a:p>
          <a:p>
            <a:pPr marL="0" indent="0">
              <a:buNone/>
            </a:pPr>
            <a:endParaRPr lang="en-US" sz="1350" dirty="0"/>
          </a:p>
          <a:p>
            <a:pPr marL="0" indent="0">
              <a:buNone/>
            </a:pPr>
            <a:r>
              <a:rPr lang="en-US" sz="1350" dirty="0">
                <a:latin typeface="Calibri" pitchFamily="34" charset="0"/>
                <a:ea typeface="Calibri" pitchFamily="34" charset="-122"/>
                <a:cs typeface="Calibri" pitchFamily="34" charset="-120"/>
              </a:rPr>
              <a:t>Despite growing investments in renewable energy (solar, wind, hydro), the rate of transition remains insufficient. Countries vary widely in energy consumption patterns, renewable adoption, and emission profiles, making it difficult to derive meaningful insights without a centralized analytical platform.</a:t>
            </a:r>
            <a:endParaRPr lang="en-US" sz="1350" dirty="0"/>
          </a:p>
          <a:p>
            <a:pPr marL="0" indent="0">
              <a:buNone/>
            </a:pPr>
            <a:endParaRPr lang="en-US" sz="1350" dirty="0"/>
          </a:p>
          <a:p>
            <a:pPr marL="0" indent="0">
              <a:buNone/>
            </a:pPr>
            <a:r>
              <a:rPr lang="en-US" sz="1350" dirty="0">
                <a:latin typeface="Calibri" pitchFamily="34" charset="0"/>
                <a:ea typeface="Calibri" pitchFamily="34" charset="-122"/>
                <a:cs typeface="Calibri" pitchFamily="34" charset="-120"/>
              </a:rPr>
              <a:t>There is a critical need for a data-driven tool to analyze global energy trends, compare country-level CO₂ emission performance, and forecast future emission levels using Machine Learning — enabling policymakers to make evidence-based decisions aligned with UN Sustainable Development Goal 7 (Clean Energy).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3600" b="1" dirty="0">
                <a:solidFill>
                  <a:srgbClr val="000000"/>
                </a:solidFill>
                <a:latin typeface="Calibri" pitchFamily="34" charset="0"/>
                <a:ea typeface="Calibri" pitchFamily="34" charset="-122"/>
                <a:cs typeface="Calibri" pitchFamily="34" charset="-120"/>
              </a:rPr>
              <a:t>PROPOSED SOLUTION :</a:t>
            </a:r>
            <a:endParaRPr lang="en-US" sz="3600" dirty="0"/>
          </a:p>
        </p:txBody>
      </p:sp>
      <p:sp>
        <p:nvSpPr>
          <p:cNvPr id="10" name="Text 8"/>
          <p:cNvSpPr/>
          <p:nvPr/>
        </p:nvSpPr>
        <p:spPr>
          <a:xfrm>
            <a:off x="329020" y="1212397"/>
            <a:ext cx="8412480" cy="3337560"/>
          </a:xfrm>
          <a:prstGeom prst="rect">
            <a:avLst/>
          </a:prstGeom>
          <a:noFill/>
          <a:ln/>
        </p:spPr>
        <p:txBody>
          <a:bodyPr wrap="square" rtlCol="0" anchor="ctr"/>
          <a:lstStyle/>
          <a:p>
            <a:pPr marL="0" indent="0">
              <a:buNone/>
            </a:pPr>
            <a:r>
              <a:rPr lang="en-US" sz="1200" dirty="0">
                <a:solidFill>
                  <a:srgbClr val="404040"/>
                </a:solidFill>
                <a:latin typeface="Calibri" pitchFamily="34" charset="0"/>
                <a:ea typeface="Calibri" pitchFamily="34" charset="-122"/>
                <a:cs typeface="Calibri" pitchFamily="34" charset="-120"/>
              </a:rPr>
              <a:t>The proposed system analyzes global energy consumption and CO₂ emissions using Machine Learning and interactive visualization:</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Data Collection:</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Historical data for 5 countries (India, USA, China, Germany, Brazil) 2010–2023: CO₂, Energy per Capita, Renewables %, Fossil %</a:t>
            </a:r>
          </a:p>
          <a:p>
            <a:pPr marL="685800" lvl="1" indent="-342900">
              <a:buSzPct val="100000"/>
              <a:buChar char="•"/>
            </a:pP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Data Preprocessing:</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Cleaned using Python pandas — handled missing values, Label Encoded countries, standardized columns</a:t>
            </a:r>
          </a:p>
          <a:p>
            <a:pPr marL="685800" lvl="1" indent="-342900">
              <a:buSzPct val="100000"/>
              <a:buChar char="•"/>
            </a:pP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Machine Learning Algorithm:</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Linear Regression (scikit-learn) predicts future CO₂ emissions. R² Score: 0.9270 → 92.7% accuracy</a:t>
            </a:r>
          </a:p>
          <a:p>
            <a:pPr marL="685800" lvl="1" indent="-342900">
              <a:buSzPct val="100000"/>
              <a:buChar char="•"/>
            </a:pP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Deployment:</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Interactive HTML dashboard (4 tabs: Overview, ML Prediction, Country Analysis, Energy Mix) built in VS Code using Chart.js</a:t>
            </a:r>
          </a:p>
          <a:p>
            <a:pPr marL="685800" lvl="1" indent="-342900">
              <a:buSzPct val="100000"/>
              <a:buChar char="•"/>
            </a:pP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Evaluation:</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Model evaluated using R² Score = 0.9270 and MSE. CO₂ predictions generated for 2024–2035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3600" b="1" dirty="0">
                <a:solidFill>
                  <a:srgbClr val="000000"/>
                </a:solidFill>
                <a:latin typeface="Calibri" pitchFamily="34" charset="0"/>
                <a:ea typeface="Calibri" pitchFamily="34" charset="-122"/>
                <a:cs typeface="Calibri" pitchFamily="34" charset="-120"/>
              </a:rPr>
              <a:t>SYSTEM APPROACH:</a:t>
            </a:r>
            <a:endParaRPr lang="en-US" sz="3600" dirty="0"/>
          </a:p>
        </p:txBody>
      </p:sp>
      <p:sp>
        <p:nvSpPr>
          <p:cNvPr id="10" name="Text 8"/>
          <p:cNvSpPr/>
          <p:nvPr/>
        </p:nvSpPr>
        <p:spPr>
          <a:xfrm>
            <a:off x="365760" y="1371600"/>
            <a:ext cx="8412480" cy="41148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The System Approach outlines the strategy and methodology for developing the Sustainable Energy Analysis system:</a:t>
            </a:r>
            <a:endParaRPr lang="en-US" sz="1300" dirty="0"/>
          </a:p>
        </p:txBody>
      </p:sp>
      <p:sp>
        <p:nvSpPr>
          <p:cNvPr id="11" name="Shape 9"/>
          <p:cNvSpPr/>
          <p:nvPr/>
        </p:nvSpPr>
        <p:spPr>
          <a:xfrm>
            <a:off x="365760" y="1828800"/>
            <a:ext cx="3931920" cy="2743200"/>
          </a:xfrm>
          <a:prstGeom prst="rect">
            <a:avLst/>
          </a:prstGeom>
          <a:solidFill>
            <a:srgbClr val="F0F4FF"/>
          </a:solidFill>
          <a:ln w="12700">
            <a:solidFill>
              <a:srgbClr val="C0C8E8"/>
            </a:solidFill>
            <a:prstDash val="solid"/>
          </a:ln>
        </p:spPr>
      </p:sp>
      <p:sp>
        <p:nvSpPr>
          <p:cNvPr id="12" name="Shape 10"/>
          <p:cNvSpPr/>
          <p:nvPr/>
        </p:nvSpPr>
        <p:spPr>
          <a:xfrm>
            <a:off x="365760" y="1828800"/>
            <a:ext cx="3931920" cy="402336"/>
          </a:xfrm>
          <a:prstGeom prst="rect">
            <a:avLst/>
          </a:prstGeom>
          <a:solidFill>
            <a:srgbClr val="1C2951"/>
          </a:solidFill>
          <a:ln w="12700">
            <a:solidFill>
              <a:srgbClr val="1C2951"/>
            </a:solidFill>
            <a:prstDash val="solid"/>
          </a:ln>
        </p:spPr>
      </p:sp>
      <p:sp>
        <p:nvSpPr>
          <p:cNvPr id="13" name="Text 11"/>
          <p:cNvSpPr/>
          <p:nvPr/>
        </p:nvSpPr>
        <p:spPr>
          <a:xfrm>
            <a:off x="457200" y="1847088"/>
            <a:ext cx="3749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System Requirements</a:t>
            </a:r>
            <a:endParaRPr lang="en-US" sz="1300" dirty="0"/>
          </a:p>
        </p:txBody>
      </p:sp>
      <p:sp>
        <p:nvSpPr>
          <p:cNvPr id="14" name="Text 12"/>
          <p:cNvSpPr/>
          <p:nvPr/>
        </p:nvSpPr>
        <p:spPr>
          <a:xfrm>
            <a:off x="548640" y="2304288"/>
            <a:ext cx="3566160" cy="2148840"/>
          </a:xfrm>
          <a:prstGeom prst="rect">
            <a:avLst/>
          </a:prstGeom>
          <a:noFill/>
          <a:ln/>
        </p:spPr>
        <p:txBody>
          <a:bodyPr wrap="square" rtlCol="0" anchor="ctr"/>
          <a:lstStyle/>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OS: Windows 10/11</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Python 3.x (Google Colab)</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VS Code (Dashboard Editor)</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Google Chrome (Preview)</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Minimum 4GB RAM</a:t>
            </a:r>
            <a:endParaRPr lang="en-US" sz="1200" dirty="0"/>
          </a:p>
        </p:txBody>
      </p:sp>
      <p:sp>
        <p:nvSpPr>
          <p:cNvPr id="15" name="Shape 13"/>
          <p:cNvSpPr/>
          <p:nvPr/>
        </p:nvSpPr>
        <p:spPr>
          <a:xfrm>
            <a:off x="4754880" y="1828800"/>
            <a:ext cx="4114800" cy="2743200"/>
          </a:xfrm>
          <a:prstGeom prst="rect">
            <a:avLst/>
          </a:prstGeom>
          <a:solidFill>
            <a:srgbClr val="F0FFF4"/>
          </a:solidFill>
          <a:ln w="12700">
            <a:solidFill>
              <a:srgbClr val="A0D8A0"/>
            </a:solidFill>
            <a:prstDash val="solid"/>
          </a:ln>
        </p:spPr>
      </p:sp>
      <p:sp>
        <p:nvSpPr>
          <p:cNvPr id="16" name="Shape 14"/>
          <p:cNvSpPr/>
          <p:nvPr/>
        </p:nvSpPr>
        <p:spPr>
          <a:xfrm>
            <a:off x="4754880" y="1828800"/>
            <a:ext cx="4114800" cy="402336"/>
          </a:xfrm>
          <a:prstGeom prst="rect">
            <a:avLst/>
          </a:prstGeom>
          <a:solidFill>
            <a:srgbClr val="00A651"/>
          </a:solidFill>
          <a:ln w="12700">
            <a:solidFill>
              <a:srgbClr val="00A651"/>
            </a:solidFill>
            <a:prstDash val="solid"/>
          </a:ln>
        </p:spPr>
      </p:sp>
      <p:sp>
        <p:nvSpPr>
          <p:cNvPr id="17" name="Text 15"/>
          <p:cNvSpPr/>
          <p:nvPr/>
        </p:nvSpPr>
        <p:spPr>
          <a:xfrm>
            <a:off x="4846320" y="1847088"/>
            <a:ext cx="38404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Library Required to Build Model</a:t>
            </a:r>
            <a:endParaRPr lang="en-US" sz="1300" dirty="0"/>
          </a:p>
        </p:txBody>
      </p:sp>
      <p:sp>
        <p:nvSpPr>
          <p:cNvPr id="18" name="Text 16"/>
          <p:cNvSpPr/>
          <p:nvPr/>
        </p:nvSpPr>
        <p:spPr>
          <a:xfrm>
            <a:off x="4937760" y="2304288"/>
            <a:ext cx="3749040" cy="2148840"/>
          </a:xfrm>
          <a:prstGeom prst="rect">
            <a:avLst/>
          </a:prstGeom>
          <a:noFill/>
          <a:ln/>
        </p:spPr>
        <p:txBody>
          <a:bodyPr wrap="square" rtlCol="0" anchor="ctr"/>
          <a:lstStyle/>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pandas — Data manipulation &amp; analysis</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numpy — Numerical computation</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scikit-learn — Linear Regression ML model</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matplotlib — Python chart generation</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Chart.js — Interactive web dashboard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ALGORITHM &amp; DEPLOYMENT:</a:t>
            </a:r>
            <a:endParaRPr lang="en-US" sz="3000" dirty="0"/>
          </a:p>
        </p:txBody>
      </p:sp>
      <p:sp>
        <p:nvSpPr>
          <p:cNvPr id="10" name="Text 8"/>
          <p:cNvSpPr/>
          <p:nvPr/>
        </p:nvSpPr>
        <p:spPr>
          <a:xfrm>
            <a:off x="297180" y="1228725"/>
            <a:ext cx="8412480" cy="3337560"/>
          </a:xfrm>
          <a:prstGeom prst="rect">
            <a:avLst/>
          </a:prstGeom>
          <a:noFill/>
          <a:ln/>
        </p:spPr>
        <p:txBody>
          <a:bodyPr wrap="square" rtlCol="0" anchor="ctr"/>
          <a:lstStyle/>
          <a:p>
            <a:pPr marL="0" indent="0">
              <a:buNone/>
            </a:pPr>
            <a:r>
              <a:rPr lang="en-US" sz="1200" dirty="0">
                <a:solidFill>
                  <a:srgbClr val="404040"/>
                </a:solidFill>
                <a:latin typeface="Calibri" pitchFamily="34" charset="0"/>
                <a:ea typeface="Calibri" pitchFamily="34" charset="-122"/>
                <a:cs typeface="Calibri" pitchFamily="34" charset="-120"/>
              </a:rPr>
              <a:t>In the Algorithm section, the machine learning algorithm chosen for predicting CO₂ emissions is described:</a:t>
            </a:r>
          </a:p>
          <a:p>
            <a:pPr marL="0" indent="0">
              <a:buNone/>
            </a:pPr>
            <a:endParaRPr lang="en-US" sz="12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Algorithm Selection:</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Linear Regression selected for its simplicity and high interpretability. Linear relationship between energy consumption and CO₂ makes it ideal. R² = 0.9270 (92.7% accuracy) justifies this selection.</a:t>
            </a:r>
          </a:p>
          <a:p>
            <a:pPr marL="685800" lvl="1" indent="-342900">
              <a:buSzPct val="100000"/>
              <a:buChar char="•"/>
            </a:pP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Data Input:</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Features: Year, Energy per Capita (kWh), Renewables Share (%), Country (Label Encoded). Target: CO₂ Emissions (Mt)</a:t>
            </a:r>
          </a:p>
          <a:p>
            <a:pPr marL="685800" lvl="1" indent="-342900">
              <a:buSzPct val="100000"/>
              <a:buChar char="•"/>
            </a:pP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Training Process:</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80% training / 20% testing split. LabelEncoder for country. scikit-learn LinearRegression. Final R² Score: 0.9270</a:t>
            </a:r>
          </a:p>
          <a:p>
            <a:pPr marL="685800" lvl="1" indent="-342900">
              <a:buSzPct val="100000"/>
              <a:buChar char="•"/>
            </a:pP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Prediction Process:</a:t>
            </a:r>
            <a:endParaRPr lang="en-US" sz="12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Trained model predicts CO₂ for 2024–2035. Assumes 1% annual energy growth + 0.5% annual renewables increase per country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4000" b="1" dirty="0">
                <a:solidFill>
                  <a:srgbClr val="000000"/>
                </a:solidFill>
                <a:latin typeface="Calibri" pitchFamily="34" charset="0"/>
                <a:ea typeface="Calibri" pitchFamily="34" charset="-122"/>
                <a:cs typeface="Calibri" pitchFamily="34" charset="-120"/>
              </a:rPr>
              <a:t>RESULT:</a:t>
            </a:r>
            <a:endParaRPr lang="en-US" sz="4000" dirty="0"/>
          </a:p>
        </p:txBody>
      </p:sp>
      <p:sp>
        <p:nvSpPr>
          <p:cNvPr id="10" name="Text 8"/>
          <p:cNvSpPr/>
          <p:nvPr/>
        </p:nvSpPr>
        <p:spPr>
          <a:xfrm>
            <a:off x="365760" y="1371600"/>
            <a:ext cx="8412480" cy="411480"/>
          </a:xfrm>
          <a:prstGeom prst="rect">
            <a:avLst/>
          </a:prstGeom>
          <a:noFill/>
          <a:ln/>
        </p:spPr>
        <p:txBody>
          <a:bodyPr wrap="square" rtlCol="0" anchor="ctr"/>
          <a:lstStyle/>
          <a:p>
            <a:pPr marL="0" indent="0">
              <a:buNone/>
            </a:pPr>
            <a:r>
              <a:rPr lang="en-US" sz="1300" dirty="0">
                <a:solidFill>
                  <a:srgbClr val="404040"/>
                </a:solidFill>
                <a:latin typeface="Calibri" pitchFamily="34" charset="0"/>
                <a:ea typeface="Calibri" pitchFamily="34" charset="-122"/>
                <a:cs typeface="Calibri" pitchFamily="34" charset="-120"/>
              </a:rPr>
              <a:t>The ML model results and dashboard output demonstrate the accuracy and effectiveness of the proposed system:</a:t>
            </a:r>
            <a:endParaRPr lang="en-US" sz="1300" dirty="0"/>
          </a:p>
        </p:txBody>
      </p:sp>
      <p:sp>
        <p:nvSpPr>
          <p:cNvPr id="11" name="Shape 9"/>
          <p:cNvSpPr/>
          <p:nvPr/>
        </p:nvSpPr>
        <p:spPr>
          <a:xfrm>
            <a:off x="365760" y="1874520"/>
            <a:ext cx="2560320" cy="1005840"/>
          </a:xfrm>
          <a:prstGeom prst="rect">
            <a:avLst/>
          </a:prstGeom>
          <a:solidFill>
            <a:srgbClr val="DBEAFE"/>
          </a:solidFill>
          <a:ln w="12700">
            <a:solidFill>
              <a:srgbClr val="93C5FD"/>
            </a:solidFill>
            <a:prstDash val="solid"/>
          </a:ln>
        </p:spPr>
      </p:sp>
      <p:sp>
        <p:nvSpPr>
          <p:cNvPr id="12" name="Text 10"/>
          <p:cNvSpPr/>
          <p:nvPr/>
        </p:nvSpPr>
        <p:spPr>
          <a:xfrm>
            <a:off x="365760" y="1874520"/>
            <a:ext cx="2560320" cy="594360"/>
          </a:xfrm>
          <a:prstGeom prst="rect">
            <a:avLst/>
          </a:prstGeom>
          <a:noFill/>
          <a:ln/>
        </p:spPr>
        <p:txBody>
          <a:bodyPr wrap="square" rtlCol="0" anchor="b"/>
          <a:lstStyle/>
          <a:p>
            <a:pPr marL="0" indent="0" algn="ctr">
              <a:buNone/>
            </a:pPr>
            <a:r>
              <a:rPr lang="en-US" sz="2600" b="1" dirty="0">
                <a:solidFill>
                  <a:srgbClr val="1E40AF"/>
                </a:solidFill>
                <a:latin typeface="Calibri" pitchFamily="34" charset="0"/>
                <a:ea typeface="Calibri" pitchFamily="34" charset="-122"/>
                <a:cs typeface="Calibri" pitchFamily="34" charset="-120"/>
              </a:rPr>
              <a:t>92.70%</a:t>
            </a:r>
            <a:endParaRPr lang="en-US" sz="2600" dirty="0"/>
          </a:p>
        </p:txBody>
      </p:sp>
      <p:sp>
        <p:nvSpPr>
          <p:cNvPr id="13" name="Text 11"/>
          <p:cNvSpPr/>
          <p:nvPr/>
        </p:nvSpPr>
        <p:spPr>
          <a:xfrm>
            <a:off x="365760" y="2468880"/>
            <a:ext cx="2560320" cy="365760"/>
          </a:xfrm>
          <a:prstGeom prst="rect">
            <a:avLst/>
          </a:prstGeom>
          <a:noFill/>
          <a:ln/>
        </p:spPr>
        <p:txBody>
          <a:bodyPr wrap="square" rtlCol="0" anchor="ctr"/>
          <a:lstStyle/>
          <a:p>
            <a:pPr marL="0" indent="0" algn="ctr">
              <a:buNone/>
            </a:pPr>
            <a:r>
              <a:rPr lang="en-US" sz="1100" dirty="0">
                <a:solidFill>
                  <a:srgbClr val="1E40AF"/>
                </a:solidFill>
                <a:latin typeface="Calibri" pitchFamily="34" charset="0"/>
                <a:ea typeface="Calibri" pitchFamily="34" charset="-122"/>
                <a:cs typeface="Calibri" pitchFamily="34" charset="-120"/>
              </a:rPr>
              <a:t>Model Accuracy</a:t>
            </a:r>
            <a:endParaRPr lang="en-US" sz="1100" dirty="0"/>
          </a:p>
        </p:txBody>
      </p:sp>
      <p:sp>
        <p:nvSpPr>
          <p:cNvPr id="14" name="Shape 12"/>
          <p:cNvSpPr/>
          <p:nvPr/>
        </p:nvSpPr>
        <p:spPr>
          <a:xfrm>
            <a:off x="3291840" y="1874520"/>
            <a:ext cx="2560320" cy="1005840"/>
          </a:xfrm>
          <a:prstGeom prst="rect">
            <a:avLst/>
          </a:prstGeom>
          <a:solidFill>
            <a:srgbClr val="DCFCE7"/>
          </a:solidFill>
          <a:ln w="12700">
            <a:solidFill>
              <a:srgbClr val="86EFAC"/>
            </a:solidFill>
            <a:prstDash val="solid"/>
          </a:ln>
        </p:spPr>
      </p:sp>
      <p:sp>
        <p:nvSpPr>
          <p:cNvPr id="15" name="Text 13"/>
          <p:cNvSpPr/>
          <p:nvPr/>
        </p:nvSpPr>
        <p:spPr>
          <a:xfrm>
            <a:off x="3291840" y="1874520"/>
            <a:ext cx="2560320" cy="594360"/>
          </a:xfrm>
          <a:prstGeom prst="rect">
            <a:avLst/>
          </a:prstGeom>
          <a:noFill/>
          <a:ln/>
        </p:spPr>
        <p:txBody>
          <a:bodyPr wrap="square" rtlCol="0" anchor="b"/>
          <a:lstStyle/>
          <a:p>
            <a:pPr marL="0" indent="0" algn="ctr">
              <a:buNone/>
            </a:pPr>
            <a:r>
              <a:rPr lang="en-US" sz="2200" b="1" dirty="0">
                <a:solidFill>
                  <a:srgbClr val="166534"/>
                </a:solidFill>
                <a:latin typeface="Calibri" pitchFamily="34" charset="0"/>
                <a:ea typeface="Calibri" pitchFamily="34" charset="-122"/>
                <a:cs typeface="Calibri" pitchFamily="34" charset="-120"/>
              </a:rPr>
              <a:t>R² = 0.9270</a:t>
            </a:r>
            <a:endParaRPr lang="en-US" sz="2200" dirty="0"/>
          </a:p>
        </p:txBody>
      </p:sp>
      <p:sp>
        <p:nvSpPr>
          <p:cNvPr id="16" name="Text 14"/>
          <p:cNvSpPr/>
          <p:nvPr/>
        </p:nvSpPr>
        <p:spPr>
          <a:xfrm>
            <a:off x="3291840" y="2468880"/>
            <a:ext cx="2560320" cy="365760"/>
          </a:xfrm>
          <a:prstGeom prst="rect">
            <a:avLst/>
          </a:prstGeom>
          <a:noFill/>
          <a:ln/>
        </p:spPr>
        <p:txBody>
          <a:bodyPr wrap="square" rtlCol="0" anchor="ctr"/>
          <a:lstStyle/>
          <a:p>
            <a:pPr marL="0" indent="0" algn="ctr">
              <a:buNone/>
            </a:pPr>
            <a:r>
              <a:rPr lang="en-US" sz="1100" dirty="0">
                <a:solidFill>
                  <a:srgbClr val="166534"/>
                </a:solidFill>
                <a:latin typeface="Calibri" pitchFamily="34" charset="0"/>
                <a:ea typeface="Calibri" pitchFamily="34" charset="-122"/>
                <a:cs typeface="Calibri" pitchFamily="34" charset="-120"/>
              </a:rPr>
              <a:t>Regression Score</a:t>
            </a:r>
            <a:endParaRPr lang="en-US" sz="1100" dirty="0"/>
          </a:p>
        </p:txBody>
      </p:sp>
      <p:sp>
        <p:nvSpPr>
          <p:cNvPr id="17" name="Shape 15"/>
          <p:cNvSpPr/>
          <p:nvPr/>
        </p:nvSpPr>
        <p:spPr>
          <a:xfrm>
            <a:off x="6217920" y="1874520"/>
            <a:ext cx="2560320" cy="1005840"/>
          </a:xfrm>
          <a:prstGeom prst="rect">
            <a:avLst/>
          </a:prstGeom>
          <a:solidFill>
            <a:srgbClr val="FEF3C7"/>
          </a:solidFill>
          <a:ln w="12700">
            <a:solidFill>
              <a:srgbClr val="FCD34D"/>
            </a:solidFill>
            <a:prstDash val="solid"/>
          </a:ln>
        </p:spPr>
      </p:sp>
      <p:sp>
        <p:nvSpPr>
          <p:cNvPr id="18" name="Text 16"/>
          <p:cNvSpPr/>
          <p:nvPr/>
        </p:nvSpPr>
        <p:spPr>
          <a:xfrm>
            <a:off x="6217920" y="1874520"/>
            <a:ext cx="2560320" cy="594360"/>
          </a:xfrm>
          <a:prstGeom prst="rect">
            <a:avLst/>
          </a:prstGeom>
          <a:noFill/>
          <a:ln/>
        </p:spPr>
        <p:txBody>
          <a:bodyPr wrap="square" rtlCol="0" anchor="b"/>
          <a:lstStyle/>
          <a:p>
            <a:pPr marL="0" indent="0" algn="ctr">
              <a:buNone/>
            </a:pPr>
            <a:r>
              <a:rPr lang="en-US" sz="2200" b="1" dirty="0">
                <a:solidFill>
                  <a:srgbClr val="92400E"/>
                </a:solidFill>
                <a:latin typeface="Calibri" pitchFamily="34" charset="0"/>
                <a:ea typeface="Calibri" pitchFamily="34" charset="-122"/>
                <a:cs typeface="Calibri" pitchFamily="34" charset="-120"/>
              </a:rPr>
              <a:t>2024–2035</a:t>
            </a:r>
            <a:endParaRPr lang="en-US" sz="2200" dirty="0"/>
          </a:p>
        </p:txBody>
      </p:sp>
      <p:sp>
        <p:nvSpPr>
          <p:cNvPr id="19" name="Text 17"/>
          <p:cNvSpPr/>
          <p:nvPr/>
        </p:nvSpPr>
        <p:spPr>
          <a:xfrm>
            <a:off x="6217920" y="2468880"/>
            <a:ext cx="2560320" cy="365760"/>
          </a:xfrm>
          <a:prstGeom prst="rect">
            <a:avLst/>
          </a:prstGeom>
          <a:noFill/>
          <a:ln/>
        </p:spPr>
        <p:txBody>
          <a:bodyPr wrap="square" rtlCol="0" anchor="ctr"/>
          <a:lstStyle/>
          <a:p>
            <a:pPr marL="0" indent="0" algn="ctr">
              <a:buNone/>
            </a:pPr>
            <a:r>
              <a:rPr lang="en-US" sz="1100" dirty="0">
                <a:solidFill>
                  <a:srgbClr val="92400E"/>
                </a:solidFill>
                <a:latin typeface="Calibri" pitchFamily="34" charset="0"/>
                <a:ea typeface="Calibri" pitchFamily="34" charset="-122"/>
                <a:cs typeface="Calibri" pitchFamily="34" charset="-120"/>
              </a:rPr>
              <a:t>CO₂ Prediction Range</a:t>
            </a:r>
            <a:endParaRPr lang="en-US" sz="1100" dirty="0"/>
          </a:p>
        </p:txBody>
      </p:sp>
      <p:sp>
        <p:nvSpPr>
          <p:cNvPr id="20" name="Text 18"/>
          <p:cNvSpPr/>
          <p:nvPr/>
        </p:nvSpPr>
        <p:spPr>
          <a:xfrm>
            <a:off x="365760" y="2971800"/>
            <a:ext cx="8412480" cy="1737360"/>
          </a:xfrm>
          <a:prstGeom prst="rect">
            <a:avLst/>
          </a:prstGeom>
          <a:noFill/>
          <a:ln/>
        </p:spPr>
        <p:txBody>
          <a:bodyPr wrap="square" rtlCol="0" anchor="ctr"/>
          <a:lstStyle/>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USA has highest CO₂ per capita among all 5 countries analyzed</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Brazil leads in renewable energy share at 52.31% in 2023 due to hydropower</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India shows fastest growth in both CO₂ emissions and renewable energy adoption</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Global renewables share increased from 35% (2010) to 47% (2023) — positive trend</a:t>
            </a:r>
            <a:endParaRPr lang="en-US" sz="1200" dirty="0"/>
          </a:p>
          <a:p>
            <a:pPr marL="342900" indent="-342900">
              <a:buSzPct val="100000"/>
              <a:buChar char="•"/>
            </a:pPr>
            <a:r>
              <a:rPr lang="en-US" sz="1200" dirty="0">
                <a:solidFill>
                  <a:srgbClr val="404040"/>
                </a:solidFill>
                <a:latin typeface="Calibri" pitchFamily="34" charset="0"/>
                <a:ea typeface="Calibri" pitchFamily="34" charset="-122"/>
                <a:cs typeface="Calibri" pitchFamily="34" charset="-120"/>
              </a:rPr>
              <a:t>ML model confirms CO₂ will continue rising through 2035 without stronger policies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4000" b="1" dirty="0">
                <a:solidFill>
                  <a:srgbClr val="000000"/>
                </a:solidFill>
                <a:latin typeface="Calibri" pitchFamily="34" charset="0"/>
                <a:ea typeface="Calibri" pitchFamily="34" charset="-122"/>
                <a:cs typeface="Calibri" pitchFamily="34" charset="-120"/>
              </a:rPr>
              <a:t>CONCLUSION:</a:t>
            </a:r>
            <a:endParaRPr lang="en-US" sz="4000" dirty="0"/>
          </a:p>
        </p:txBody>
      </p:sp>
      <p:sp>
        <p:nvSpPr>
          <p:cNvPr id="10" name="Text 8"/>
          <p:cNvSpPr/>
          <p:nvPr/>
        </p:nvSpPr>
        <p:spPr>
          <a:xfrm>
            <a:off x="365760" y="1371600"/>
            <a:ext cx="8412480" cy="3337560"/>
          </a:xfrm>
          <a:prstGeom prst="rect">
            <a:avLst/>
          </a:prstGeom>
          <a:noFill/>
          <a:ln/>
        </p:spPr>
        <p:txBody>
          <a:bodyPr wrap="square" rtlCol="0" anchor="t"/>
          <a:lstStyle/>
          <a:p>
            <a:pPr marL="0" indent="0">
              <a:buNone/>
            </a:pPr>
            <a:r>
              <a:rPr lang="en-US" sz="1250" dirty="0">
                <a:latin typeface="Calibri" pitchFamily="34" charset="0"/>
                <a:ea typeface="Calibri" pitchFamily="34" charset="-122"/>
                <a:cs typeface="Calibri" pitchFamily="34" charset="-120"/>
              </a:rPr>
              <a:t>This project successfully analyzed global energy consumption and carbon emission trends for 5 major countries (India, USA, China, Germany, Brazil) from 2010 to 2023, and predicted future CO₂ emissions up to 2035 using Machine Learning.</a:t>
            </a:r>
            <a:endParaRPr lang="en-US" sz="1250" dirty="0"/>
          </a:p>
          <a:p>
            <a:pPr marL="0" indent="0">
              <a:buNone/>
            </a:pPr>
            <a:endParaRPr lang="en-US" sz="1250" dirty="0"/>
          </a:p>
          <a:p>
            <a:pPr marL="0" indent="0">
              <a:buNone/>
            </a:pPr>
            <a:r>
              <a:rPr lang="en-US" sz="1250" dirty="0">
                <a:latin typeface="Calibri" pitchFamily="34" charset="0"/>
                <a:ea typeface="Calibri" pitchFamily="34" charset="-122"/>
                <a:cs typeface="Calibri" pitchFamily="34" charset="-120"/>
              </a:rPr>
              <a:t>The Linear Regression model achieved 92.7% accuracy (R² = 0.9270), proving reliable for energy trend prediction. The interactive dashboard provides comprehensive visual exploration of historical data, country comparisons, and ML-based predictions.</a:t>
            </a:r>
            <a:endParaRPr lang="en-US" sz="1250" dirty="0"/>
          </a:p>
          <a:p>
            <a:pPr marL="0" indent="0">
              <a:buNone/>
            </a:pPr>
            <a:endParaRPr lang="en-US" sz="1250" dirty="0"/>
          </a:p>
          <a:p>
            <a:pPr marL="0" indent="0">
              <a:buNone/>
            </a:pPr>
            <a:r>
              <a:rPr lang="en-US" sz="1250" dirty="0">
                <a:latin typeface="Calibri" pitchFamily="34" charset="0"/>
                <a:ea typeface="Calibri" pitchFamily="34" charset="-122"/>
                <a:cs typeface="Calibri" pitchFamily="34" charset="-120"/>
              </a:rPr>
              <a:t>Key conclusions:</a:t>
            </a:r>
            <a:endParaRPr lang="en-US" sz="1250" dirty="0"/>
          </a:p>
          <a:p>
            <a:pPr marL="0" indent="0">
              <a:buNone/>
            </a:pPr>
            <a:r>
              <a:rPr lang="en-US" sz="1250" dirty="0">
                <a:latin typeface="Calibri" pitchFamily="34" charset="0"/>
                <a:ea typeface="Calibri" pitchFamily="34" charset="-122"/>
                <a:cs typeface="Calibri" pitchFamily="34" charset="-120"/>
              </a:rPr>
              <a:t>• Despite renewable energy growth globally, CO₂ emissions continue rising due to increasing total energy demand</a:t>
            </a:r>
            <a:endParaRPr lang="en-US" sz="1250" dirty="0"/>
          </a:p>
          <a:p>
            <a:pPr marL="0" indent="0">
              <a:buNone/>
            </a:pPr>
            <a:r>
              <a:rPr lang="en-US" sz="1250" dirty="0">
                <a:latin typeface="Calibri" pitchFamily="34" charset="0"/>
                <a:ea typeface="Calibri" pitchFamily="34" charset="-122"/>
                <a:cs typeface="Calibri" pitchFamily="34" charset="-120"/>
              </a:rPr>
              <a:t>• Developed nations (USA, Germany) show emission stabilization; developing nations (India, China) show upward trends</a:t>
            </a:r>
            <a:endParaRPr lang="en-US" sz="1250" dirty="0"/>
          </a:p>
          <a:p>
            <a:pPr marL="0" indent="0">
              <a:buNone/>
            </a:pPr>
            <a:r>
              <a:rPr lang="en-US" sz="1250" dirty="0">
                <a:latin typeface="Calibri" pitchFamily="34" charset="0"/>
                <a:ea typeface="Calibri" pitchFamily="34" charset="-122"/>
                <a:cs typeface="Calibri" pitchFamily="34" charset="-120"/>
              </a:rPr>
              <a:t>• Brazil demonstrates that emerging economies can achieve high renewable energy shares</a:t>
            </a:r>
            <a:endParaRPr lang="en-US" sz="1250" dirty="0"/>
          </a:p>
          <a:p>
            <a:pPr marL="0" indent="0">
              <a:buNone/>
            </a:pPr>
            <a:r>
              <a:rPr lang="en-US" sz="1250" dirty="0">
                <a:latin typeface="Calibri" pitchFamily="34" charset="0"/>
                <a:ea typeface="Calibri" pitchFamily="34" charset="-122"/>
                <a:cs typeface="Calibri" pitchFamily="34" charset="-120"/>
              </a:rPr>
              <a:t>• Without aggressive energy policy changes, CO₂ will keep rising through 2035</a:t>
            </a:r>
            <a:endParaRPr lang="en-US" sz="1250" dirty="0"/>
          </a:p>
          <a:p>
            <a:pPr marL="0" indent="0">
              <a:buNone/>
            </a:pPr>
            <a:endParaRPr lang="en-US" sz="1250" dirty="0"/>
          </a:p>
          <a:p>
            <a:pPr marL="0" indent="0">
              <a:buNone/>
            </a:pPr>
            <a:r>
              <a:rPr lang="en-US" sz="1250" dirty="0">
                <a:latin typeface="Calibri" pitchFamily="34" charset="0"/>
                <a:ea typeface="Calibri" pitchFamily="34" charset="-122"/>
                <a:cs typeface="Calibri" pitchFamily="34" charset="-120"/>
              </a:rPr>
              <a:t>This project aligns with UN SDG Goal 7 (Affordable and Clean Energy) providing data-driven insights for sustainable energy planning</a:t>
            </a:r>
            <a:r>
              <a:rPr lang="en-US" sz="1250" dirty="0">
                <a:solidFill>
                  <a:srgbClr val="2E5090"/>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4000" b="1" dirty="0">
                <a:solidFill>
                  <a:srgbClr val="000000"/>
                </a:solidFill>
                <a:latin typeface="Calibri" pitchFamily="34" charset="0"/>
                <a:ea typeface="Calibri" pitchFamily="34" charset="-122"/>
                <a:cs typeface="Calibri" pitchFamily="34" charset="-120"/>
              </a:rPr>
              <a:t>FUTURE SCOPE:</a:t>
            </a:r>
            <a:endParaRPr lang="en-US" sz="4000" dirty="0"/>
          </a:p>
        </p:txBody>
      </p:sp>
      <p:sp>
        <p:nvSpPr>
          <p:cNvPr id="10" name="Text 8"/>
          <p:cNvSpPr/>
          <p:nvPr/>
        </p:nvSpPr>
        <p:spPr>
          <a:xfrm>
            <a:off x="365760" y="1371600"/>
            <a:ext cx="8412480" cy="502920"/>
          </a:xfrm>
          <a:prstGeom prst="rect">
            <a:avLst/>
          </a:prstGeom>
          <a:noFill/>
          <a:ln/>
        </p:spPr>
        <p:txBody>
          <a:bodyPr wrap="square" rtlCol="0" anchor="ctr"/>
          <a:lstStyle/>
          <a:p>
            <a:pPr marL="0" indent="0">
              <a:buNone/>
            </a:pPr>
            <a:r>
              <a:rPr lang="en-US" sz="1250" dirty="0">
                <a:solidFill>
                  <a:srgbClr val="404040"/>
                </a:solidFill>
                <a:latin typeface="Calibri" pitchFamily="34" charset="0"/>
                <a:ea typeface="Calibri" pitchFamily="34" charset="-122"/>
                <a:cs typeface="Calibri" pitchFamily="34" charset="-120"/>
              </a:rPr>
              <a:t>Potential enhancements and expansions for the system — incorporating additional data sources, optimizing algorithms, and expanding coverage to support more regions and emerging technologies:</a:t>
            </a:r>
            <a:endParaRPr lang="en-US" sz="1250" dirty="0"/>
          </a:p>
        </p:txBody>
      </p:sp>
      <p:sp>
        <p:nvSpPr>
          <p:cNvPr id="11" name="Text 9"/>
          <p:cNvSpPr/>
          <p:nvPr/>
        </p:nvSpPr>
        <p:spPr>
          <a:xfrm>
            <a:off x="365760" y="1920240"/>
            <a:ext cx="8412480" cy="2743200"/>
          </a:xfrm>
          <a:prstGeom prst="rect">
            <a:avLst/>
          </a:prstGeom>
          <a:noFill/>
          <a:ln/>
        </p:spPr>
        <p:txBody>
          <a:bodyPr wrap="square" rtlCol="0" anchor="ctr"/>
          <a:lstStyle/>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Expand Dataset:</a:t>
            </a:r>
            <a:endParaRPr lang="en-US" sz="13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Include all 195 countries with additional features — GDP, population, industrial output for global predictions</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Advanced ML Models:</a:t>
            </a:r>
            <a:endParaRPr lang="en-US" sz="13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Implement LSTM Neural Networks, Random Forest, XGBoost for improved time-series prediction beyond Linear Regression</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Real-Time Data Integration:</a:t>
            </a:r>
            <a:endParaRPr lang="en-US" sz="13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Connect live APIs from World Bank, IEA, and NASA for real-time energy and emissions data in dashboard</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Policy Recommendation Engine:</a:t>
            </a:r>
            <a:endParaRPr lang="en-US" sz="13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AI-driven policy recommendations based on Paris Agreement targets and UN SDG emission reduction goals</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Mobile Application:</a:t>
            </a:r>
            <a:endParaRPr lang="en-US" sz="1300" dirty="0"/>
          </a:p>
          <a:p>
            <a:pPr marL="685800" lvl="1" indent="-342900">
              <a:buSzPct val="100000"/>
              <a:buChar char="•"/>
            </a:pPr>
            <a:r>
              <a:rPr lang="en-US" sz="1200" dirty="0">
                <a:solidFill>
                  <a:srgbClr val="404040"/>
                </a:solidFill>
                <a:latin typeface="Calibri" pitchFamily="34" charset="0"/>
                <a:ea typeface="Calibri" pitchFamily="34" charset="-122"/>
                <a:cs typeface="Calibri" pitchFamily="34" charset="-120"/>
              </a:rPr>
              <a:t>Android/iOS version using React Native for wider public accessibility of the energy dashboard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4000" b="1" dirty="0">
                <a:solidFill>
                  <a:srgbClr val="000000"/>
                </a:solidFill>
                <a:latin typeface="Calibri" pitchFamily="34" charset="0"/>
                <a:ea typeface="Calibri" pitchFamily="34" charset="-122"/>
                <a:cs typeface="Calibri" pitchFamily="34" charset="-120"/>
              </a:rPr>
              <a:t>REFERENCES:</a:t>
            </a:r>
            <a:endParaRPr lang="en-US" sz="4000" dirty="0"/>
          </a:p>
        </p:txBody>
      </p:sp>
      <p:sp>
        <p:nvSpPr>
          <p:cNvPr id="10" name="Text 8"/>
          <p:cNvSpPr/>
          <p:nvPr/>
        </p:nvSpPr>
        <p:spPr>
          <a:xfrm>
            <a:off x="365760" y="1371600"/>
            <a:ext cx="8412480" cy="365760"/>
          </a:xfrm>
          <a:prstGeom prst="rect">
            <a:avLst/>
          </a:prstGeom>
          <a:noFill/>
          <a:ln/>
        </p:spPr>
        <p:txBody>
          <a:bodyPr wrap="square" rtlCol="0" anchor="ctr"/>
          <a:lstStyle/>
          <a:p>
            <a:pPr marL="0" indent="0">
              <a:buNone/>
            </a:pPr>
            <a:r>
              <a:rPr lang="en-US" sz="1250" dirty="0">
                <a:solidFill>
                  <a:srgbClr val="404040"/>
                </a:solidFill>
                <a:latin typeface="Calibri" pitchFamily="34" charset="0"/>
                <a:ea typeface="Calibri" pitchFamily="34" charset="-122"/>
                <a:cs typeface="Calibri" pitchFamily="34" charset="-120"/>
              </a:rPr>
              <a:t>Sources, research papers, and documentation used in developing this project:</a:t>
            </a:r>
            <a:endParaRPr lang="en-US" sz="1250" dirty="0"/>
          </a:p>
        </p:txBody>
      </p:sp>
      <p:sp>
        <p:nvSpPr>
          <p:cNvPr id="11" name="Text 9"/>
          <p:cNvSpPr/>
          <p:nvPr/>
        </p:nvSpPr>
        <p:spPr>
          <a:xfrm>
            <a:off x="365760" y="1828800"/>
            <a:ext cx="8412480" cy="2834640"/>
          </a:xfrm>
          <a:prstGeom prst="rect">
            <a:avLst/>
          </a:prstGeom>
          <a:noFill/>
          <a:ln/>
        </p:spPr>
        <p:txBody>
          <a:bodyPr wrap="square" rtlCol="0" anchor="ctr"/>
          <a:lstStyle/>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Our World in Data — CO₂ and Greenhouse Gas Emissions Dataset.</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https://ourworldindata.org/co2-and-greenhouse-gas-emissions</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International Energy Agency (IEA) — World Energy Outlook 2023.</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https://www.iea.org/reports/world-energy-outlook-2023</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Scikit-learn — Linear Regression Documentation.</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https://scikit-learn.org/stable/modules/linear_model.html</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Chart.js — Interactive Data Visualization Library.</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https://www.chartjs.org/docs/latest/</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United Nations — SDG Goal 7: Affordable and Clean Energy.</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https://sdgs.un.org/goals/goal7</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FICE Education Pvt. Ltd. — Microsoft Elevate Internship.</a:t>
            </a:r>
            <a:endParaRPr lang="en-US" sz="1200" dirty="0"/>
          </a:p>
          <a:p>
            <a:pPr marL="342900" indent="-342900">
              <a:spcAft>
                <a:spcPts val="200"/>
              </a:spcAft>
              <a:buSzPct val="100000"/>
              <a:buChar char="•"/>
            </a:pPr>
            <a:r>
              <a:rPr lang="en-US" sz="1200" dirty="0">
                <a:solidFill>
                  <a:srgbClr val="404040"/>
                </a:solidFill>
                <a:latin typeface="Calibri" pitchFamily="34" charset="0"/>
                <a:ea typeface="Calibri" pitchFamily="34" charset="-122"/>
                <a:cs typeface="Calibri" pitchFamily="34" charset="-120"/>
              </a:rPr>
              <a:t>https://elevate.fice.in</a:t>
            </a:r>
            <a:endParaRPr lang="en-US" sz="1200" dirty="0"/>
          </a:p>
          <a:p>
            <a:pPr marL="342900" indent="-342900">
              <a:spcAft>
                <a:spcPts val="200"/>
              </a:spcAft>
              <a:buSzPct val="100000"/>
              <a:buChar char="•"/>
            </a:pPr>
            <a:r>
              <a:rPr lang="en-US" sz="1200" dirty="0">
                <a:latin typeface="Calibri" pitchFamily="34" charset="0"/>
                <a:ea typeface="Calibri" pitchFamily="34" charset="-122"/>
                <a:cs typeface="Calibri" pitchFamily="34" charset="-120"/>
              </a:rPr>
              <a:t>GitHub Link : https://github.com/meet4843/sustainable-energy-analysis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914400" y="1645920"/>
            <a:ext cx="7315200" cy="1828800"/>
          </a:xfrm>
          <a:prstGeom prst="rect">
            <a:avLst/>
          </a:prstGeom>
          <a:noFill/>
          <a:ln/>
        </p:spPr>
        <p:txBody>
          <a:bodyPr wrap="square" rtlCol="0" anchor="ctr"/>
          <a:lstStyle/>
          <a:p>
            <a:pPr marL="0" indent="0" algn="ctr">
              <a:buNone/>
            </a:pPr>
            <a:r>
              <a:rPr lang="en-US" sz="6400" b="1" dirty="0">
                <a:solidFill>
                  <a:srgbClr val="1C2951"/>
                </a:solidFill>
                <a:latin typeface="Calibri" pitchFamily="34" charset="0"/>
                <a:ea typeface="Calibri" pitchFamily="34" charset="-122"/>
                <a:cs typeface="Calibri" pitchFamily="34" charset="-120"/>
              </a:rPr>
              <a:t>Thank You</a:t>
            </a:r>
            <a:endParaRPr lang="en-US" sz="6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1178</Words>
  <Application>Microsoft Office PowerPoint</Application>
  <PresentationFormat>On-screen Show (16:9)</PresentationFormat>
  <Paragraphs>154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Meet Patel</cp:lastModifiedBy>
  <cp:revision>1</cp:revision>
  <dcterms:created xsi:type="dcterms:W3CDTF">2026-03-20T05:09:15Z</dcterms:created>
  <dcterms:modified xsi:type="dcterms:W3CDTF">2026-03-23T05:14:48Z</dcterms:modified>
</cp:coreProperties>
</file>